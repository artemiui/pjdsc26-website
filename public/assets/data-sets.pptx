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44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PARTICIPANT DATA PACKET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DENGUE SITUATION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Use the data selectively. Your audience does not need every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2423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411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1C77D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27248"/>
            <a:ext cx="2057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2B49"/>
                </a:solidFill>
                <a:latin typeface="Aptos"/>
              </a:rPr>
              <a:t>CITY SITUATION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423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487168"/>
            <a:ext cx="411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259A67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127248"/>
            <a:ext cx="2057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2B49"/>
                </a:solidFill>
                <a:latin typeface="Aptos"/>
              </a:rPr>
              <a:t>LOCAL DETAIL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2240280"/>
            <a:ext cx="2423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59" y="2487168"/>
            <a:ext cx="411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F19419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127248"/>
            <a:ext cx="2057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2B49"/>
                </a:solidFill>
                <a:latin typeface="Aptos"/>
              </a:rPr>
              <a:t>CONTEXT + CAPACITY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3999" y="2240280"/>
            <a:ext cx="24231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79" y="2487168"/>
            <a:ext cx="411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DA464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79" y="3127248"/>
            <a:ext cx="2057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E2B49"/>
                </a:solidFill>
                <a:latin typeface="Aptos"/>
              </a:rPr>
              <a:t>DATA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102412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E2B49"/>
                </a:solidFill>
                <a:latin typeface="Aptos"/>
              </a:rPr>
              <a:t>Your output is still limited to THREE pieces of information + ONE recommended decision.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5623560"/>
            <a:ext cx="9326880" cy="530352"/>
          </a:xfrm>
          <a:prstGeom prst="round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91640" y="5788152"/>
            <a:ext cx="8778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More data does not automatically mean a better presentation.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SHEET 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CITY DENGUE 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Monday, 8:00 AM · Reported figures before the surprise update.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737360"/>
            <a:ext cx="105156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856231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Barangay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44168" y="1737360"/>
            <a:ext cx="713232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856231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737360"/>
            <a:ext cx="621792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84831" y="1856231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Last</a:t>
            </a:r>
            <a:br/>
            <a:r>
              <a:t>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1737360"/>
            <a:ext cx="621792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06624" y="1856231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This</a:t>
            </a:r>
            <a:br/>
            <a:r>
              <a:t>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0984" y="1737360"/>
            <a:ext cx="475488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28416" y="1856231"/>
            <a:ext cx="42062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Hosp.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76472" y="1737360"/>
            <a:ext cx="59436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03904" y="1856231"/>
            <a:ext cx="539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Students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1737360"/>
            <a:ext cx="50292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8264" y="1856231"/>
            <a:ext cx="4480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Avg.</a:t>
            </a:r>
            <a:br/>
            <a:r>
              <a:t>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3752" y="1737360"/>
            <a:ext cx="566928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01184" y="1856231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Delay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1737360"/>
            <a:ext cx="658368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68112" y="1856231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HH</a:t>
            </a:r>
            <a:br/>
            <a:r>
              <a:t>Inspected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8" y="1737360"/>
            <a:ext cx="658368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1856231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Breeding</a:t>
            </a:r>
            <a:br/>
            <a:r>
              <a:t>Sites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57416" y="1737360"/>
            <a:ext cx="566928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84848" y="1856231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Fogging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4344" y="1737360"/>
            <a:ext cx="86868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51775" y="1856231"/>
            <a:ext cx="81381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Private</a:t>
            </a:r>
            <a:br/>
            <a:r>
              <a:t>Clinic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3023" y="1737360"/>
            <a:ext cx="713232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0455" y="1856231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Missing</a:t>
            </a:r>
            <a:br/>
            <a:r>
              <a:t>Address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06255" y="1737360"/>
            <a:ext cx="713232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33687" y="1856231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FFFFF"/>
                </a:solidFill>
                <a:latin typeface="Aptos"/>
              </a:rPr>
              <a:t>Possible</a:t>
            </a:r>
            <a:br/>
            <a:r>
              <a:t>Duplicates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" y="2304288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2423160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Maligaya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44168" y="2304288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2423160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12,000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304288"/>
            <a:ext cx="621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84831" y="2423160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9192" y="2304288"/>
            <a:ext cx="621792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06624" y="2423160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DA4646"/>
                </a:solidFill>
                <a:latin typeface="Aptos"/>
              </a:rPr>
              <a:t>47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00984" y="2304288"/>
            <a:ext cx="475488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28416" y="2423160"/>
            <a:ext cx="42062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DA4646"/>
                </a:solidFill>
                <a:latin typeface="Aptos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76472" y="2304288"/>
            <a:ext cx="594360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03904" y="2423160"/>
            <a:ext cx="539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DA4646"/>
                </a:solidFill>
                <a:latin typeface="Aptos"/>
              </a:rPr>
              <a:t>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70832" y="2304288"/>
            <a:ext cx="502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98264" y="2423160"/>
            <a:ext cx="4480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73752" y="2304288"/>
            <a:ext cx="56692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01184" y="2423160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 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2304288"/>
            <a:ext cx="65836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68112" y="2423160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72%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9048" y="2304288"/>
            <a:ext cx="65836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26480" y="2423160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63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57416" y="2304288"/>
            <a:ext cx="56692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84848" y="2423160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61%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24344" y="2304288"/>
            <a:ext cx="868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51775" y="2423160"/>
            <a:ext cx="81381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Complete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93023" y="2304288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5" y="2423160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06255" y="2304288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33687" y="2423160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2608" y="2871215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20040" y="2990087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Pag-asa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44168" y="2871215"/>
            <a:ext cx="71323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371600" y="2990087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15,500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2871215"/>
            <a:ext cx="62179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084831" y="2990087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79192" y="2871215"/>
            <a:ext cx="62179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706624" y="2990087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31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00984" y="2871215"/>
            <a:ext cx="47548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328416" y="2990087"/>
            <a:ext cx="42062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76472" y="2871215"/>
            <a:ext cx="5943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803904" y="2990087"/>
            <a:ext cx="539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70832" y="2871215"/>
            <a:ext cx="50292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398264" y="2990087"/>
            <a:ext cx="4480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73752" y="2871215"/>
            <a:ext cx="56692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01184" y="2990087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 days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40680" y="2871215"/>
            <a:ext cx="65836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68112" y="2990087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81%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99048" y="2871215"/>
            <a:ext cx="65836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126480" y="2990087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41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57416" y="2871215"/>
            <a:ext cx="56692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784848" y="2990087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76%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24344" y="2871215"/>
            <a:ext cx="86868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351775" y="2990087"/>
            <a:ext cx="81381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Complete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93023" y="2871215"/>
            <a:ext cx="71323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220455" y="2990087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06255" y="2871215"/>
            <a:ext cx="71323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933687" y="2990087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608" y="3438144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20040" y="3557015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San Isidro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44168" y="3438144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371600" y="3557015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8,200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057400" y="3438144"/>
            <a:ext cx="621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084831" y="3557015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79192" y="3438144"/>
            <a:ext cx="621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706624" y="3557015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00984" y="3438144"/>
            <a:ext cx="47548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328416" y="3557015"/>
            <a:ext cx="42062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776472" y="3438144"/>
            <a:ext cx="594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803904" y="3557015"/>
            <a:ext cx="539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370832" y="3438144"/>
            <a:ext cx="502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398264" y="3557015"/>
            <a:ext cx="4480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19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873752" y="3438144"/>
            <a:ext cx="566928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901184" y="3557015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DA4646"/>
                </a:solidFill>
                <a:latin typeface="Aptos"/>
              </a:rPr>
              <a:t>5 days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40680" y="3438144"/>
            <a:ext cx="65836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468112" y="3557015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54%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99048" y="3438144"/>
            <a:ext cx="65836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126480" y="3557015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52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7416" y="3438144"/>
            <a:ext cx="56692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784848" y="3557015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43%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324344" y="3438144"/>
            <a:ext cx="868680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351775" y="3557015"/>
            <a:ext cx="81381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DA4646"/>
                </a:solidFill>
                <a:latin typeface="Aptos"/>
              </a:rPr>
              <a:t>Not submitted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93023" y="3438144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220455" y="3557015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06255" y="3438144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933687" y="3557015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92608" y="4005072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20040" y="4123944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Mabuhay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344168" y="4005072"/>
            <a:ext cx="71323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371600" y="4123944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20,000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57400" y="4005072"/>
            <a:ext cx="62179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084831" y="4123944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679192" y="4005072"/>
            <a:ext cx="62179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706624" y="4123944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300984" y="4005072"/>
            <a:ext cx="47548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3328416" y="4123944"/>
            <a:ext cx="42062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76472" y="4005072"/>
            <a:ext cx="5943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803904" y="4123944"/>
            <a:ext cx="539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370832" y="4005072"/>
            <a:ext cx="50292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398264" y="4123944"/>
            <a:ext cx="4480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34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873752" y="4005072"/>
            <a:ext cx="56692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901184" y="4123944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 day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40680" y="4005072"/>
            <a:ext cx="65836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468112" y="4123944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88%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099048" y="4005072"/>
            <a:ext cx="65836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126480" y="4123944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38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757416" y="4005072"/>
            <a:ext cx="566928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784848" y="4123944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82%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324344" y="4005072"/>
            <a:ext cx="86868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351775" y="4123944"/>
            <a:ext cx="81381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Complete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193023" y="4005072"/>
            <a:ext cx="71323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220455" y="4123944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906255" y="4005072"/>
            <a:ext cx="713232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933687" y="4123944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92608" y="4572000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320040" y="469087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Masagana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344168" y="4572000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371600" y="4690872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9,500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057400" y="4572000"/>
            <a:ext cx="621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2084831" y="4690872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679192" y="4572000"/>
            <a:ext cx="62179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706624" y="4690872"/>
            <a:ext cx="56692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19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300984" y="4572000"/>
            <a:ext cx="47548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3328416" y="4690872"/>
            <a:ext cx="42062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776472" y="4572000"/>
            <a:ext cx="594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803904" y="4690872"/>
            <a:ext cx="539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370832" y="4572000"/>
            <a:ext cx="502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398264" y="4690872"/>
            <a:ext cx="4480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26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873752" y="4572000"/>
            <a:ext cx="56692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901184" y="4690872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3 days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440680" y="4572000"/>
            <a:ext cx="658368" cy="566928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5468112" y="4690872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19419"/>
                </a:solidFill>
                <a:latin typeface="Aptos"/>
              </a:rPr>
              <a:t>41%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099048" y="4572000"/>
            <a:ext cx="658368" cy="566928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6126480" y="4690872"/>
            <a:ext cx="603503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1">
                <a:solidFill>
                  <a:srgbClr val="F19419"/>
                </a:solidFill>
                <a:latin typeface="Aptos"/>
              </a:rPr>
              <a:t>67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757416" y="4572000"/>
            <a:ext cx="566928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784848" y="4690872"/>
            <a:ext cx="512064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35%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324344" y="4572000"/>
            <a:ext cx="868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7351775" y="4690872"/>
            <a:ext cx="81381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Partial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193023" y="4572000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220455" y="4690872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906255" y="4572000"/>
            <a:ext cx="713232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8933687" y="4690872"/>
            <a:ext cx="658368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>
                <a:solidFill>
                  <a:srgbClr val="203448"/>
                </a:solidFill>
                <a:latin typeface="Aptos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58368" y="5715000"/>
            <a:ext cx="108813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E2B49"/>
                </a:solidFill>
                <a:latin typeface="Aptos"/>
              </a:rPr>
              <a:t>QUESTION TO YOUR TEAM: Which of these fields actually matter to your assigned audience?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SHEET 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WEEKLY CASE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Monthly totals can hide whether a situation is stable or accelerating.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182880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947672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Barangay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828800"/>
            <a:ext cx="105156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33472" y="194767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1828800"/>
            <a:ext cx="105156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2" y="194767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Week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828800"/>
            <a:ext cx="105156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194767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Week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828800"/>
            <a:ext cx="105156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88152" y="194767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Week 4*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828800"/>
            <a:ext cx="123444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9712" y="1947672"/>
            <a:ext cx="117957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This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288036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74152" y="1947672"/>
            <a:ext cx="2825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Pattern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39572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2514600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Maligaya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395728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33472" y="2514600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395728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85032" y="2514600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2395728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6592" y="2514600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395728"/>
            <a:ext cx="1051560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88152" y="2514600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DA4646"/>
                </a:solidFill>
                <a:latin typeface="Aptos"/>
              </a:rPr>
              <a:t>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2395728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39712" y="2514600"/>
            <a:ext cx="117957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47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395728"/>
            <a:ext cx="2880360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74152" y="2514600"/>
            <a:ext cx="2825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DA4646"/>
                </a:solidFill>
                <a:latin typeface="Aptos"/>
              </a:rPr>
              <a:t>Accelerating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2962656"/>
            <a:ext cx="182880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3081528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Pag-asa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2962656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33472" y="3081528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2962656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85032" y="3081528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962656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36592" y="3081528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2962656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88152" y="3081528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2962656"/>
            <a:ext cx="123444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39712" y="3081528"/>
            <a:ext cx="117957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962656"/>
            <a:ext cx="28803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74152" y="3081528"/>
            <a:ext cx="2825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Stable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352958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4672" y="3648456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San Isidro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40" y="3529584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633472" y="3648456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0" y="3529584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85032" y="3648456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3529584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36592" y="3648456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720" y="3529584"/>
            <a:ext cx="1051560" cy="566928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88152" y="3648456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19419"/>
                </a:solidFill>
                <a:latin typeface="Aptos"/>
              </a:rPr>
              <a:t>10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12280" y="3529584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39712" y="3648456"/>
            <a:ext cx="117957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529584"/>
            <a:ext cx="2880360" cy="566928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4152" y="3648456"/>
            <a:ext cx="2825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19419"/>
                </a:solidFill>
                <a:latin typeface="Aptos"/>
              </a:rPr>
              <a:t>Increasing / incomplete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4096512"/>
            <a:ext cx="182880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4672" y="4215384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Mabuhay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06040" y="4096512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633472" y="4215384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0" y="4096512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85032" y="4215384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09160" y="4096512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736592" y="4215384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60720" y="4096512"/>
            <a:ext cx="10515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88152" y="4215384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12280" y="4096512"/>
            <a:ext cx="123444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839712" y="4215384"/>
            <a:ext cx="117957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29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46720" y="4096512"/>
            <a:ext cx="28803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74152" y="4215384"/>
            <a:ext cx="2825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Stable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" y="466344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04672" y="4782312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Masagana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06040" y="4663440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633472" y="478231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4663440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685032" y="478231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09160" y="4663440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736592" y="478231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60720" y="4663440"/>
            <a:ext cx="1051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788152" y="4782312"/>
            <a:ext cx="9966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12280" y="466344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839712" y="4782312"/>
            <a:ext cx="117957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46720" y="4663440"/>
            <a:ext cx="28803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74152" y="4782312"/>
            <a:ext cx="282549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19" b="0">
                <a:solidFill>
                  <a:srgbClr val="203448"/>
                </a:solidFill>
                <a:latin typeface="Aptos"/>
              </a:rPr>
              <a:t>Mostly stable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14400" y="5440680"/>
            <a:ext cx="10332720" cy="530352"/>
          </a:xfrm>
          <a:prstGeom prst="roundRect">
            <a:avLst/>
          </a:prstGeom>
          <a:solidFill>
            <a:srgbClr val="FFF7E6"/>
          </a:solidFill>
          <a:ln>
            <a:solidFill>
              <a:srgbClr val="F4DA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188720" y="5605272"/>
            <a:ext cx="97840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203448"/>
                </a:solidFill>
                <a:latin typeface="Aptos"/>
              </a:rPr>
              <a:t>* Week 4 reports may still be incomplete. A rising line may reflect disease transmission, reporting behavior—or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SHEET 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MALIGAYA: WHERE ARE THE CASES?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The barangay total is 47—but the burden is not evenly distributed.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828800" cy="530352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901952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Sitio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783080"/>
            <a:ext cx="1371600" cy="530352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33472" y="1901952"/>
            <a:ext cx="13167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783080"/>
            <a:ext cx="1508760" cy="530352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05072" y="1901952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Reported Cases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783080"/>
            <a:ext cx="1508760" cy="530352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13832" y="1901952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Students Affected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783080"/>
            <a:ext cx="1828800" cy="530352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22592" y="1901952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Household Inspection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1783080"/>
            <a:ext cx="1645920" cy="530352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51392" y="1901952"/>
            <a:ext cx="159105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FFFFF"/>
                </a:solidFill>
                <a:latin typeface="Aptos"/>
              </a:rPr>
              <a:t>Breeding Sites Found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31343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432303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Riverside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2313432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33472" y="2432303"/>
            <a:ext cx="13167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1,850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2313432"/>
            <a:ext cx="1508760" cy="530352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05072" y="2432303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DA4646"/>
                </a:solidFill>
                <a:latin typeface="Aptos"/>
              </a:rP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313432"/>
            <a:ext cx="1508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13832" y="2432303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2313432"/>
            <a:ext cx="1828800" cy="530352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22592" y="2432303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19419"/>
                </a:solidFill>
                <a:latin typeface="Aptos"/>
              </a:rPr>
              <a:t>48%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2313432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51392" y="2432303"/>
            <a:ext cx="159105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2843784"/>
            <a:ext cx="182880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2962656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Sampaguita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40" y="2843784"/>
            <a:ext cx="137160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33472" y="2962656"/>
            <a:ext cx="13167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2,100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7639" y="2843784"/>
            <a:ext cx="1508760" cy="530352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05072" y="2962656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DA4646"/>
                </a:solidFill>
                <a:latin typeface="Aptos"/>
              </a:rPr>
              <a:t>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2843784"/>
            <a:ext cx="150876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13832" y="2962656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2843784"/>
            <a:ext cx="182880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22592" y="2962656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57%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23960" y="2843784"/>
            <a:ext cx="164592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51392" y="2962656"/>
            <a:ext cx="159105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3374135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4672" y="3493007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Centro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3374135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33472" y="3493007"/>
            <a:ext cx="13167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3,600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77639" y="3374135"/>
            <a:ext cx="1508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005072" y="3493007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3374135"/>
            <a:ext cx="1508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13832" y="3493007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95160" y="3374135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3493007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89%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3374135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51392" y="3493007"/>
            <a:ext cx="159105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3904487"/>
            <a:ext cx="182880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672" y="4023359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Maharlika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06040" y="3904487"/>
            <a:ext cx="137160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33472" y="4023359"/>
            <a:ext cx="13167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1,750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77639" y="3904487"/>
            <a:ext cx="1508760" cy="530352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05072" y="4023359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DA4646"/>
                </a:solidFill>
                <a:latin typeface="Aptos"/>
              </a:rPr>
              <a:t>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0" y="3904487"/>
            <a:ext cx="150876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13832" y="4023359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95160" y="3904487"/>
            <a:ext cx="1828800" cy="530352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022592" y="4023359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1">
                <a:solidFill>
                  <a:srgbClr val="F19419"/>
                </a:solidFill>
                <a:latin typeface="Aptos"/>
              </a:rPr>
              <a:t>51%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23960" y="3904487"/>
            <a:ext cx="164592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851392" y="4023359"/>
            <a:ext cx="159105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" y="4434840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4672" y="4553712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Other areas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06040" y="4434840"/>
            <a:ext cx="1371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633472" y="4553712"/>
            <a:ext cx="13167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2,700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77639" y="4434840"/>
            <a:ext cx="1508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005072" y="4553712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0" y="4434840"/>
            <a:ext cx="15087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13832" y="4553712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95160" y="4434840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022592" y="4553712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82%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23960" y="4434840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851392" y="4553712"/>
            <a:ext cx="159105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7240" y="4965192"/>
            <a:ext cx="182880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04672" y="5084064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TOTAL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06040" y="4965192"/>
            <a:ext cx="137160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633472" y="5084064"/>
            <a:ext cx="13167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12,000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77639" y="4965192"/>
            <a:ext cx="150876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005072" y="5084064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47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0" y="4965192"/>
            <a:ext cx="150876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513832" y="5084064"/>
            <a:ext cx="1453895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21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95160" y="4965192"/>
            <a:ext cx="182880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22592" y="5084064"/>
            <a:ext cx="177393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72% overall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823960" y="4965192"/>
            <a:ext cx="1645920" cy="530352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851392" y="5084064"/>
            <a:ext cx="1591056" cy="384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60" b="0">
                <a:solidFill>
                  <a:srgbClr val="203448"/>
                </a:solidFill>
                <a:latin typeface="Aptos"/>
              </a:rPr>
              <a:t>63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05840" y="5349240"/>
            <a:ext cx="10058400" cy="621792"/>
          </a:xfrm>
          <a:prstGeom prst="roundRect">
            <a:avLst/>
          </a:prstGeom>
          <a:solidFill>
            <a:srgbClr val="EDF4FB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325880" y="5550408"/>
            <a:ext cx="94183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E2B49"/>
                </a:solidFill>
                <a:latin typeface="Aptos"/>
              </a:rPr>
              <a:t>38 of 47 cases are concentrated in Riverside + Sampaguita + Maharlika.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SHEET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SCHOOL-LEVEL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Confirmed cases and symptomatic absences are not the same measure.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423160" cy="557784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236829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School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783080"/>
            <a:ext cx="1234440" cy="557784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53512" y="1901952"/>
            <a:ext cx="11795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Barangay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783080"/>
            <a:ext cx="1143000" cy="557784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87952" y="1901952"/>
            <a:ext cx="10881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Enrolment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783080"/>
            <a:ext cx="1828800" cy="557784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2" y="1901952"/>
            <a:ext cx="17739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Confirmed Dengue</a:t>
            </a:r>
            <a:br/>
            <a:r>
              <a:t>Among Students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783080"/>
            <a:ext cx="2057400" cy="557784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59752" y="1901952"/>
            <a:ext cx="20025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Absent w/ Dengue-like</a:t>
            </a:r>
            <a:br/>
            <a:r>
              <a:t>Symptoms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783080"/>
            <a:ext cx="1508760" cy="557784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1453895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Last Campus</a:t>
            </a:r>
            <a:br/>
            <a:r>
              <a:t>Inspection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340864"/>
            <a:ext cx="242316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2459736"/>
            <a:ext cx="236829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Maligaya National 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340864"/>
            <a:ext cx="123444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53512" y="2459736"/>
            <a:ext cx="11795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Maligaya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340864"/>
            <a:ext cx="11430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87952" y="2459736"/>
            <a:ext cx="10881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1,420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340864"/>
            <a:ext cx="1828800" cy="557784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30952" y="2459736"/>
            <a:ext cx="17739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DA4646"/>
                </a:solidFill>
                <a:latin typeface="Aptos"/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2340864"/>
            <a:ext cx="2057400" cy="557784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59752" y="2459736"/>
            <a:ext cx="20025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19419"/>
                </a:solidFill>
                <a:latin typeface="Aptos"/>
              </a:rP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340864"/>
            <a:ext cx="150876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2459736"/>
            <a:ext cx="1453895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12 days ago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898648"/>
            <a:ext cx="242316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3017520"/>
            <a:ext cx="236829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Maligaya Elementary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2898648"/>
            <a:ext cx="123444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53512" y="3017520"/>
            <a:ext cx="11795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Maligaya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2898648"/>
            <a:ext cx="11430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87952" y="3017520"/>
            <a:ext cx="10881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980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2898648"/>
            <a:ext cx="18288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30952" y="3017520"/>
            <a:ext cx="17739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2898648"/>
            <a:ext cx="20574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59752" y="3017520"/>
            <a:ext cx="20025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2898648"/>
            <a:ext cx="150876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17152" y="3017520"/>
            <a:ext cx="1453895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5 days ago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456432"/>
            <a:ext cx="242316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575304"/>
            <a:ext cx="236829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Riverside Integrated School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3456432"/>
            <a:ext cx="123444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953512" y="3575304"/>
            <a:ext cx="11795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Maligaya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3456432"/>
            <a:ext cx="11430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87952" y="3575304"/>
            <a:ext cx="10881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620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456432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30952" y="3575304"/>
            <a:ext cx="17739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456432"/>
            <a:ext cx="20574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59752" y="3575304"/>
            <a:ext cx="20025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3456432"/>
            <a:ext cx="1508760" cy="557784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217152" y="3575304"/>
            <a:ext cx="1453895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DA4646"/>
                </a:solidFill>
                <a:latin typeface="Aptos"/>
              </a:rPr>
              <a:t>18 days ago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014215"/>
            <a:ext cx="242316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0352" y="4133087"/>
            <a:ext cx="236829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San Isidro NHS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4014215"/>
            <a:ext cx="123444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953512" y="4133087"/>
            <a:ext cx="11795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San Isidro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60520" y="4014215"/>
            <a:ext cx="11430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87952" y="4133087"/>
            <a:ext cx="10881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1,100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4014215"/>
            <a:ext cx="18288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30952" y="4133087"/>
            <a:ext cx="17739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4014215"/>
            <a:ext cx="20574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59752" y="4133087"/>
            <a:ext cx="20025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20" y="4014215"/>
            <a:ext cx="150876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17152" y="4133087"/>
            <a:ext cx="1453895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9 days ago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572000"/>
            <a:ext cx="242316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0352" y="4690872"/>
            <a:ext cx="236829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San Isidro Elementary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80" y="4572000"/>
            <a:ext cx="123444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53512" y="4690872"/>
            <a:ext cx="11795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San Isidro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60520" y="4572000"/>
            <a:ext cx="11430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87952" y="4690872"/>
            <a:ext cx="10881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760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0" y="4572000"/>
            <a:ext cx="18288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30952" y="4690872"/>
            <a:ext cx="17739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4572000"/>
            <a:ext cx="205740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159752" y="4690872"/>
            <a:ext cx="20025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89720" y="4572000"/>
            <a:ext cx="1508760" cy="557784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217152" y="4690872"/>
            <a:ext cx="1453895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7 days ago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5129784"/>
            <a:ext cx="242316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30352" y="5248656"/>
            <a:ext cx="236829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Pag-asa NHS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26080" y="5129784"/>
            <a:ext cx="123444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953512" y="5248656"/>
            <a:ext cx="117957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Pag-asa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60520" y="5129784"/>
            <a:ext cx="11430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187952" y="5248656"/>
            <a:ext cx="10881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1,650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03520" y="5129784"/>
            <a:ext cx="18288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330952" y="5248656"/>
            <a:ext cx="17739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32320" y="5129784"/>
            <a:ext cx="205740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59752" y="5248656"/>
            <a:ext cx="2002536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89720" y="5129784"/>
            <a:ext cx="1508760" cy="557784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217152" y="5248656"/>
            <a:ext cx="1453895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203448"/>
                </a:solidFill>
                <a:latin typeface="Aptos"/>
              </a:rPr>
              <a:t>4 days ago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DA4646"/>
                </a:solidFill>
                <a:latin typeface="Aptos"/>
              </a:rPr>
              <a:t>Caution: absence with dengue-like symptoms is a signal for follow-up—not a confirmed diagnosis.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SHEET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RESPONSE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The decision is not only 'where is the problem?' It is also 'what can we actually deploy?'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377440" cy="594360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947672"/>
            <a:ext cx="232257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FFFFFF"/>
                </a:solidFill>
                <a:latin typeface="Aptos"/>
              </a:rPr>
              <a:t>Resource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828800"/>
            <a:ext cx="1645920" cy="594360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194767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FFFFFF"/>
                </a:solidFill>
                <a:latin typeface="Aptos"/>
              </a:rPr>
              <a:t>Available /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2103120" cy="594360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947672"/>
            <a:ext cx="2048255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FFFFFF"/>
                </a:solidFill>
                <a:latin typeface="Aptos"/>
              </a:rPr>
              <a:t>Currently Deployed / Used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1828800"/>
            <a:ext cx="1645920" cy="594360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56832" y="194767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FFFFFF"/>
                </a:solidFill>
                <a:latin typeface="Aptos"/>
              </a:rPr>
              <a:t>Additional 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828800"/>
            <a:ext cx="3383280" cy="594360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1947672"/>
            <a:ext cx="332841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FFFFFF"/>
                </a:solidFill>
                <a:latin typeface="Aptos"/>
              </a:rPr>
              <a:t>Decision Relevance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2316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542032"/>
            <a:ext cx="232257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Vector-control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2423160"/>
            <a:ext cx="1645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07792" y="254203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423160"/>
            <a:ext cx="2103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2542032"/>
            <a:ext cx="2048255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2423160"/>
            <a:ext cx="1645920" cy="594360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56832" y="254203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DA4646"/>
                </a:solidFill>
                <a:latin typeface="Aptos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2423160"/>
            <a:ext cx="3383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02752" y="2542032"/>
            <a:ext cx="332841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Only 2 extra teams this week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017520"/>
            <a:ext cx="237744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3136391"/>
            <a:ext cx="232257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Inspection teams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3017520"/>
            <a:ext cx="164592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07792" y="3136391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3017520"/>
            <a:ext cx="210312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53712" y="3136391"/>
            <a:ext cx="2048255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3017520"/>
            <a:ext cx="1645920" cy="594360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56832" y="3136391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DA4646"/>
                </a:solidFill>
                <a:latin typeface="Aptos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017520"/>
            <a:ext cx="338328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3136391"/>
            <a:ext cx="332841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Very limited surge capacity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61188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3730752"/>
            <a:ext cx="232257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Epidemiology investigation teams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3611880"/>
            <a:ext cx="1645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07792" y="373075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26280" y="3611880"/>
            <a:ext cx="2103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53712" y="3730752"/>
            <a:ext cx="2048255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3611880"/>
            <a:ext cx="1645920" cy="594360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56832" y="373075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1">
                <a:solidFill>
                  <a:srgbClr val="F19419"/>
                </a:solidFill>
                <a:latin typeface="Aptos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3611880"/>
            <a:ext cx="3383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02752" y="3730752"/>
            <a:ext cx="332841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One team available for validation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206240"/>
            <a:ext cx="237744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0352" y="4325112"/>
            <a:ext cx="232257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City hospital dengue beds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4206240"/>
            <a:ext cx="164592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07792" y="432511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26280" y="4206240"/>
            <a:ext cx="210312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53712" y="4325112"/>
            <a:ext cx="2048255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19 occupied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4206240"/>
            <a:ext cx="164592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56832" y="432511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4206240"/>
            <a:ext cx="3383280" cy="594360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02752" y="4325112"/>
            <a:ext cx="332841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Hospital capacity still available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800600"/>
            <a:ext cx="2377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0352" y="4919472"/>
            <a:ext cx="232257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Rapid diagnostic test kits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80360" y="4800600"/>
            <a:ext cx="1645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907792" y="491947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300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26280" y="4800600"/>
            <a:ext cx="2103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53712" y="4919472"/>
            <a:ext cx="2048255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184 allocated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29400" y="4800600"/>
            <a:ext cx="1645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56832" y="4919472"/>
            <a:ext cx="159105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116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320" y="4800600"/>
            <a:ext cx="33832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2752" y="4919472"/>
            <a:ext cx="3328416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03448"/>
                </a:solidFill>
                <a:latin typeface="Aptos"/>
              </a:rPr>
              <a:t>Can support targeted testing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97280" y="5349240"/>
            <a:ext cx="9966960" cy="621792"/>
          </a:xfrm>
          <a:prstGeom prst="round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417320" y="5559552"/>
            <a:ext cx="932688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Constraint: the Mayor can deploy only TWO additional vector-control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SHEET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HOW RELIABLE IS THE PICTURE?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Different numbers come from different sources, at different times, with different limitations.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233172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901952"/>
            <a:ext cx="22768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Data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79" y="1783080"/>
            <a:ext cx="182880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53511" y="1901952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Last Submission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79" y="1783080"/>
            <a:ext cx="155448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82312" y="1901952"/>
            <a:ext cx="149961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Expected Frequency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783080"/>
            <a:ext cx="128016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901952"/>
            <a:ext cx="12252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Completeness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19" y="1783080"/>
            <a:ext cx="3657600" cy="56692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1" y="1901952"/>
            <a:ext cx="36027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Known Issue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350008"/>
            <a:ext cx="23317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2468879"/>
            <a:ext cx="22768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Barangay Health Stations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79" y="235000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3511" y="2468879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Today, 7:00 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2350008"/>
            <a:ext cx="1554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82312" y="2468879"/>
            <a:ext cx="149961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Daily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350008"/>
            <a:ext cx="1280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36792" y="2468879"/>
            <a:ext cx="12252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96%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19" y="2350008"/>
            <a:ext cx="3657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16951" y="2468879"/>
            <a:ext cx="36027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Some missing addresses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2916936"/>
            <a:ext cx="233172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3035808"/>
            <a:ext cx="22768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City Hospital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2916936"/>
            <a:ext cx="182880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53511" y="3035808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Today, 6:00 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79" y="2916936"/>
            <a:ext cx="155448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82312" y="3035808"/>
            <a:ext cx="149961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Daily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916936"/>
            <a:ext cx="12801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6792" y="3035808"/>
            <a:ext cx="12252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19" y="2916936"/>
            <a:ext cx="365760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16951" y="3035808"/>
            <a:ext cx="36027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None identified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483863"/>
            <a:ext cx="23317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3602735"/>
            <a:ext cx="22768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Public Schools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79" y="3483863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53511" y="3602735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Friday, 4:00 PM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79" y="3483863"/>
            <a:ext cx="1554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82312" y="3602735"/>
            <a:ext cx="149961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Weekly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3483863"/>
            <a:ext cx="1280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36792" y="3602735"/>
            <a:ext cx="12252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93%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19" y="3483863"/>
            <a:ext cx="3657600" cy="566928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16951" y="3602735"/>
            <a:ext cx="36027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19419"/>
                </a:solidFill>
                <a:latin typeface="Aptos"/>
              </a:rPr>
              <a:t>Absence ≠ confirmed dengue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4050791"/>
            <a:ext cx="233172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1792" y="4169663"/>
            <a:ext cx="22768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Private Hospitals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79" y="4050791"/>
            <a:ext cx="182880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3511" y="4169663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Yesterday, 8:00 PM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79" y="4050791"/>
            <a:ext cx="155448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82312" y="4169663"/>
            <a:ext cx="149961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Daily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59" y="4050791"/>
            <a:ext cx="12801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36792" y="4169663"/>
            <a:ext cx="12252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98%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19" y="4050791"/>
            <a:ext cx="365760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16951" y="4169663"/>
            <a:ext cx="36027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None identified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4617720"/>
            <a:ext cx="23317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1792" y="4736592"/>
            <a:ext cx="22768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Private Clinics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26079" y="461772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953511" y="4736592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Variable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79" y="4617720"/>
            <a:ext cx="1554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82312" y="4736592"/>
            <a:ext cx="149961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Daily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59" y="4617720"/>
            <a:ext cx="1280160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36792" y="4736592"/>
            <a:ext cx="12252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DA4646"/>
                </a:solidFill>
                <a:latin typeface="Aptos"/>
              </a:rPr>
              <a:t>71%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19" y="4617720"/>
            <a:ext cx="3657600" cy="56692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16951" y="4736592"/>
            <a:ext cx="36027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DA4646"/>
                </a:solidFill>
                <a:latin typeface="Aptos"/>
              </a:rPr>
              <a:t>San Isidro clinic missing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" y="5184648"/>
            <a:ext cx="233172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1792" y="5303520"/>
            <a:ext cx="227685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Household Inspection Teams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26079" y="5184648"/>
            <a:ext cx="182880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53511" y="5303520"/>
            <a:ext cx="17739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Saturday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79" y="5184648"/>
            <a:ext cx="155448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782312" y="5303520"/>
            <a:ext cx="149961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Weekly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59" y="5184648"/>
            <a:ext cx="1280160" cy="56692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336792" y="5303520"/>
            <a:ext cx="1225295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203448"/>
                </a:solidFill>
                <a:latin typeface="Aptos"/>
              </a:rPr>
              <a:t>87%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89519" y="5184648"/>
            <a:ext cx="3657600" cy="566928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616951" y="5303520"/>
            <a:ext cx="3602736" cy="4206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19419"/>
                </a:solidFill>
                <a:latin typeface="Aptos"/>
              </a:rPr>
              <a:t>Masagana inspection incomplete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" y="5952743"/>
            <a:ext cx="102412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E2B49"/>
                </a:solidFill>
                <a:latin typeface="Aptos"/>
              </a:rPr>
              <a:t>Not all data points have the same provenance, timeliness or level of certainty.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ACTIVITY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OPTIONAL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YOU MAY CALCULATE—BUT YOU DO NOT HAVE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Use a calculation only if it helps your audience make a better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1C77DA"/>
                </a:solidFill>
                <a:latin typeface="Aptos"/>
              </a:rPr>
              <a:t>CASE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4572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E2B49"/>
                </a:solidFill>
                <a:latin typeface="Aptos"/>
              </a:rPr>
              <a:t>(This month − Last month) ÷ Last month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259A67"/>
                </a:solidFill>
                <a:latin typeface="Aptos"/>
              </a:rPr>
              <a:t>CASES PER 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80360"/>
            <a:ext cx="4572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E2B49"/>
                </a:solidFill>
                <a:latin typeface="Aptos"/>
              </a:rPr>
              <a:t>Cases ÷ Population × 10,000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FACILITATOR: REVEAL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4:15 PM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NEW PRIVATE-CLINIC DATA 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Do not distribute this slide until the mid-activity update.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61320" cy="3566160"/>
          </a:xfrm>
          <a:prstGeom prst="roundRect">
            <a:avLst/>
          </a:prstGeom>
          <a:solidFill>
            <a:srgbClr val="FFF3F3"/>
          </a:solidFill>
          <a:ln>
            <a:solidFill>
              <a:srgbClr val="F2C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164592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800" b="1">
                <a:solidFill>
                  <a:srgbClr val="DA4646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14600"/>
            <a:ext cx="493776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0E2B49"/>
                </a:solidFill>
                <a:latin typeface="Aptos"/>
              </a:rPr>
              <a:t>additional SUSPECTED dengue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54680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DA4646"/>
                </a:solidFill>
                <a:latin typeface="Apto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154680"/>
            <a:ext cx="71323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03448"/>
                </a:solidFill>
                <a:latin typeface="Aptos"/>
              </a:rPr>
              <a:t>patients list San Isidro as residence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66160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DA4646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566160"/>
            <a:ext cx="71323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03448"/>
                </a:solidFill>
                <a:latin typeface="Aptos"/>
              </a:rPr>
              <a:t>patients list Maligaya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77640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DA4646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977640"/>
            <a:ext cx="71323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03448"/>
                </a:solidFill>
                <a:latin typeface="Aptos"/>
              </a:rPr>
              <a:t>patients list Pag-asa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89120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DA4646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389120"/>
            <a:ext cx="71323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03448"/>
                </a:solidFill>
                <a:latin typeface="Aptos"/>
              </a:rPr>
              <a:t>records may already exist in the city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0600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300" b="1">
                <a:solidFill>
                  <a:srgbClr val="DA4646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800600"/>
            <a:ext cx="71323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03448"/>
                </a:solidFill>
                <a:latin typeface="Aptos"/>
              </a:rPr>
              <a:t>records have incomplete addresses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743200"/>
            <a:ext cx="242316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DA4646"/>
                </a:solidFill>
                <a:latin typeface="Aptos"/>
              </a:rPr>
              <a:t>26 + 18 = 44?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401568"/>
            <a:ext cx="2743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E2B49"/>
                </a:solidFill>
                <a:latin typeface="Aptos"/>
              </a:rPr>
              <a:t>NOT NECESSARILY.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9012" y="3977640"/>
            <a:ext cx="3200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19" b="0" dirty="0">
                <a:solidFill>
                  <a:srgbClr val="5C7187"/>
                </a:solidFill>
                <a:latin typeface="Aptos"/>
              </a:rPr>
              <a:t>Different residence · possible duplicates · incomplete addresses · suspected ≠ confirmed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C77DA"/>
          </a:solidFill>
          <a:ln>
            <a:solidFill>
              <a:srgbClr val="1C7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519672"/>
            <a:ext cx="22860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0" b="1">
                <a:solidFill>
                  <a:srgbClr val="5C7187"/>
                </a:solidFill>
                <a:latin typeface="Aptos"/>
              </a:rPr>
              <a:t>FACILITATOR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6519672"/>
            <a:ext cx="31546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 b="1">
                <a:solidFill>
                  <a:srgbClr val="5C7187"/>
                </a:solidFill>
                <a:latin typeface="Aptos"/>
              </a:rPr>
              <a:t>SAME DATA.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1C77DA"/>
                </a:solidFill>
                <a:latin typeface="Aptos"/>
              </a:rPr>
              <a:t>QUICK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2B49"/>
                </a:solidFill>
                <a:latin typeface="Aptos"/>
              </a:rPr>
              <a:t>DERIVED INDICATORS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25296"/>
            <a:ext cx="109728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50" b="0">
                <a:solidFill>
                  <a:srgbClr val="5C7187"/>
                </a:solidFill>
                <a:latin typeface="Aptos"/>
              </a:rPr>
              <a:t>These are not required participant outputs; use them during debrief if useful.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2011680" cy="61264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Barangay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828800"/>
            <a:ext cx="2011680" cy="61264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24912" y="1947672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Cases / 10,000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828800"/>
            <a:ext cx="2103120" cy="61264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947672"/>
            <a:ext cx="2048255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Growth vs Last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828800"/>
            <a:ext cx="4754880" cy="612648"/>
          </a:xfrm>
          <a:prstGeom prst="rect">
            <a:avLst/>
          </a:prstGeom>
          <a:solidFill>
            <a:srgbClr val="0E2B49"/>
          </a:solidFill>
          <a:ln>
            <a:solidFill>
              <a:srgbClr val="0E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9712" y="1947672"/>
            <a:ext cx="47000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Interpretation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441448"/>
            <a:ext cx="2011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560320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Maligaya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441448"/>
            <a:ext cx="2011680" cy="61264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24912" y="2560320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A4646"/>
                </a:solidFill>
                <a:latin typeface="Aptos"/>
              </a:rPr>
              <a:t>39.2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441448"/>
            <a:ext cx="2103120" cy="612648"/>
          </a:xfrm>
          <a:prstGeom prst="rect">
            <a:avLst/>
          </a:prstGeom>
          <a:solidFill>
            <a:srgbClr val="FFF3F3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2560320"/>
            <a:ext cx="2048255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DA4646"/>
                </a:solidFill>
                <a:latin typeface="Aptos"/>
              </a:rPr>
              <a:t>+161%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441448"/>
            <a:ext cx="47548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9712" y="2560320"/>
            <a:ext cx="47000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High burden + rapid acceleration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54096"/>
            <a:ext cx="2011680" cy="61264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172968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Pag-asa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054096"/>
            <a:ext cx="2011680" cy="61264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24912" y="3172968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20.0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054096"/>
            <a:ext cx="2103120" cy="61264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6592" y="3172968"/>
            <a:ext cx="2048255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+29%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054096"/>
            <a:ext cx="4754880" cy="61264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9712" y="3172968"/>
            <a:ext cx="47000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Moderate, relatively stable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666744"/>
            <a:ext cx="2011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3785615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San Isidro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3666744"/>
            <a:ext cx="2011680" cy="612648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24912" y="3785615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19419"/>
                </a:solidFill>
                <a:latin typeface="Aptos"/>
              </a:rPr>
              <a:t>31.7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3666744"/>
            <a:ext cx="2103120" cy="612648"/>
          </a:xfrm>
          <a:prstGeom prst="rect">
            <a:avLst/>
          </a:prstGeom>
          <a:solidFill>
            <a:srgbClr val="FFF7E6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36592" y="3785615"/>
            <a:ext cx="2048255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19419"/>
                </a:solidFill>
                <a:latin typeface="Aptos"/>
              </a:rPr>
              <a:t>+160%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3666744"/>
            <a:ext cx="47548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39712" y="3785615"/>
            <a:ext cx="47000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High rate + major data uncertainty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279392"/>
            <a:ext cx="2011680" cy="61264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4398264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Mabuhay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4279392"/>
            <a:ext cx="2011680" cy="61264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24912" y="4398264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14.5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4279392"/>
            <a:ext cx="2103120" cy="61264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36592" y="4398264"/>
            <a:ext cx="2048255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+7%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4279392"/>
            <a:ext cx="4754880" cy="612648"/>
          </a:xfrm>
          <a:prstGeom prst="rect">
            <a:avLst/>
          </a:prstGeom>
          <a:solidFill>
            <a:srgbClr val="F0F4F8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39712" y="4398264"/>
            <a:ext cx="47000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Lowest crude rate; stable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892040"/>
            <a:ext cx="2011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13232" y="5010912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Masagana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4892040"/>
            <a:ext cx="20116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24912" y="5010912"/>
            <a:ext cx="19568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20.0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4892040"/>
            <a:ext cx="21031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736592" y="5010912"/>
            <a:ext cx="2048255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+58%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12280" y="4892040"/>
            <a:ext cx="47548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39712" y="5010912"/>
            <a:ext cx="4700016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203448"/>
                </a:solidFill>
                <a:latin typeface="Aptos"/>
              </a:rPr>
              <a:t>Moderate burden; weak inspection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1000</Words>
  <Application>Microsoft Macintosh PowerPoint</Application>
  <PresentationFormat>Widescreen</PresentationFormat>
  <Paragraphs>384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Philip Christian Zuniga</cp:lastModifiedBy>
  <cp:revision>2</cp:revision>
  <dcterms:created xsi:type="dcterms:W3CDTF">2013-01-27T09:14:16Z</dcterms:created>
  <dcterms:modified xsi:type="dcterms:W3CDTF">2026-10-14T04:03:33Z</dcterms:modified>
  <cp:category/>
</cp:coreProperties>
</file>